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scope precisely: this deck covers the SOFTWARE subsystem of APR only — Autonomous AI Navigation and painting control — not the mechanical or electrical design. Emphasize this is a design review, not a finished product demo: the goal is to show the team understands what it is building, why, and how it will be tested. Technical point to land: the whole deck follows one rule — AI never touches motors, spray, or vacuum directly; classical robotics does the safety-critical work. Likely question: 'Is this software already implemented?' Strong answer: 'No — this is the design and architecture that Phases 0-14 of our roadmap will implement, simulation-first, with clear completion criteria for every phase.'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side: ground the audience in why this project exists — worker safety and quality consistency, drawn straight from WBS 1.1's use-case rationale. Right side: these six objectives are the spine of the entire rest of the deck — each later slide maps to one or more of them. Technical point: every objective here is measurable (±20mm, 200-300mm, etc.) — not vague aspiration, per WBS 1.2's explicit instruction to avoid statements like 'fast enough'. Likely question: 'Which objective is hardest to hit?' Strong answer: 'Path accuracy at ±20mm while fused localization is still maturing — that's why Phase 4 has its own dedicated drift-budget test before we touch coverage planning.'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top to bottom quickly — don't read every cell, just anchor that these are measurable, testable numbers, not adjectives. Technical point: full traceability matrix (18 requirements) is in the written report Part 2; this slide is the condensed version for the review. Likely question: 'Where did the 50µm ±15µm thickness number come from — the WBS doc said ±0.5mm.' Strong answer: 'The updated ARP-Requirements document tightened that to 50µm±15µm dry film — we're carrying the updated figure, and both are traced in the written report.' Be ready to admit the three open TBD items plainly if asked — that's expected at this stage, not a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through the three rows left to right, top to bottom — this is the full pipeline from CAD file to spray gun, in the order data actually flows. Spend the most time on the Safety Supervisor box: it's drawn separately on purpose because it is NOT part of the sequential pipeline — it's an arbiter that can interrupt any box at any time. Technical point: emphasize the boxed callout at the bottom — reviewers often conflate coverage planning and navigation, so pre-empt that question here. Likely question: 'Why not let Nav2 handle coverage planning too, since it does path planning already?' Strong answer: 'Nav2's planner is built for point-to-point navigation, not full-area coverage optimization — Boustrophedon coverage generation is a different problem class, so we keep it as its own action server and only hand Nav2 the resulting waypoints.'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six-box pipeline once, left to right — this is a deliberately boring, linear, auditable process, which is the point: nothing here is a black box. Left card: name the concrete outputs of parsing — a boundary polygon plus tagged no-paint polygons, all converted from CAD units into meters in a wall-local frame. Right card: this is the most reviewer-tested part of this slide — show that the design has already thought about CAD being wrong or stale, not just the happy path. Technical point: CAD is pre-mission, offline, and produces a static map — it is never read live while the rover paints. Likely question: 'What if there is no CAD file at all for a wall?' Strong answer: 'Out of scope for this prototype by design — the use-case assumes a CAD-mapped wall; a sensor-only fallback is listed explicitly as future work, not quietly assumed to work.'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card: Mission Planner is deliberately 'thin' — it sequences and tracks, it does not compute geometry itself; that separation is the point of this slide's title pairing the two together. Point at the formula box and work the example out loud: 0.30m spray width, 50% overlap, gives 0.15m row spacing — this is exactly the calculation the Coverage Planner runs at planning time. Right side: the zig-zag diagram is the actual pattern the planner generates; the orange block shows a no-paint region and how a row gets clipped/split around it. Technical point: coverage validity (≥90%) is checked at planning time by summing pass footprint area against the paintable polygon — not verified after the fact. Likely question: 'Why alternate direction each row instead of always returning to the same side?' Strong answer: 'It minimizes non-productive transition travel — a return-to-start pattern would roughly double transit time between rows.'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column: go sensor by sensor, and for each one state both its contribution and its specific weakness — this shows the panel we understand failure modes, not just capabilities. Right side: this is the actual fusion architecture — encoder+IMU run continuously at high rate for the primary estimate, LiDAR corrects it periodically rather than being the primary source. Technical point: emphasize why LiDAR is a correction, not the primary source — flat walls give LiDAR few features to scan-match against, so leaning on it as the sole source would be fragile. Likely question: 'What happens to accuracy if LiDAR drops out entirely for the whole mission?' Strong answer: 'Encoder+IMU dead-reckoning continues, but after a configurable time/distance without correction the mission pauses and asks the operator to confirm before continuing, because drift risk to the ±20mm path-accuracy budget becomes unbounded.'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red 'not this' box — naming the naive architecture explicitly and rejecting it up front pre-empts the most common reviewer assumption about 'AI navigation.' Then contrast the two columns: everything that touches safety or motion lives in the deterministic column; AI lives only in perception and feeds the costmap, same as any other obstacle input. Technical point: a wrong AI classification degrades gracefully — an unclassified object defaults to 'unknown, stop,' it doesn't degrade to an unsafe action. Likely question: 'Isn't that just calling it AI navigation for the pitch while it's really classical robotics?' Strong answer: 'Exactly — that's deliberate. AI does the one thing classical methods are weak at, open-set object classification, and nothing else. Overstating AI's role would be the presentation issue, not underusing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this six-step flow is the exact sequence that fires the instant any obstacle is detected — walk it left to right, and land hard on the fact that spray cuts off before the stop even completes, not after. Bottom: four categories of obstacle, each handled differently — known CAD obstacles were already excluded when the coverage path was generated, so they're not even a runtime event. Technical point: the 'unsafe conditions' category (red) bypasses the normal replanning loop entirely and escalates straight to the Safety Supervisor state machine on slide 11. Likely question: 'How do you tell a temporary obstacle like a person apart from a permanent unexpected one like a pipe?' Strong answer: 'Classification confidence plus motion history from the perception node — and critically, low-confidence or person-class detections always default to the conservative full-stop path, never to 'replan and continue.''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standoff is a simple PI loop running at 20-50Hz — sufficient given the tolerance and slow approach speeds, no need for MPC on the first prototype. Right: this is a hard AND-gate, all six conditions must be true simultaneously, and it re-evaluates continuously, not just once per pass. Technical point: spray flow is also velocity-compensated — modulated to actual measured speed, not commanded speed, so a stall never causes a thick spot. Likely question: 'Why PI and not something more advanced like MPC?' Strong answer: 'The ±20mm tolerance at low approach speed doesn't justify MPC's complexity yet — if bench testing shows overshoot beyond tolerance, a feedforward term or full PID is the next step before MPC.'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this is the full formal state machine — walk it once, left to right, note that FAULT and E-STOP can be entered from RUNNING at any time, not just sequentially. Left card: this is the single most important rule in the whole software design — read it near-verbatim, it's the answer to a huge fraction of reviewer safety questions. Right card: eight independently monitored inputs — mention that each one has a documented, specific response, not a generic 'stop everything' behavior. Technical point: the hardware E-stop line is intended to be independent of the software topic path where possible — flag this honestly as coordinated with, but not fully owned by, the software team. Likely question: 'Can AI ever clear a FAULT state automatically?' Strong answer: 'No — only explicit operator acknowledgment clears FAULT or EMERGENCY_STOP. That's a hard architectural rule, not a configurable option.'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don't read every package name — point out the pattern instead: safety-critical packages (hardware, localization, safety, motion, spray) are C++; planning/CAD/telemetry are Python. Right: this is the exact simulation pipeline from base OS to an autonomous simulated rover — Gazebo Harmonic with a virtual vertical wall standing in for the real one. Technical point: land the callout text at the bottom hard — it's the reason simulation results are trustworthy: identical nodes, only the sensor/actuator boundary is re-pointed between sim and hardware. Likely question: 'How do you simulate vacuum adhesion in Gazebo?' Strong answer: 'Approximated with a high-friction or fixed joint standing in for the adhesion physics — we're explicit that this is a scoped simplification, not a first-principles vacuum model; adhesion-loss dynamics get validated on real hardware.'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five stage-gates, not fifteen isolated tasks — group them the way the boxes are grouped: foundation, localization/nav, planning, execution control, hardware validation. Technical point: every single phase (all 15, detailed in the report) has an explicit 'do NOT attempt yet' list — this is intentional, to stop the team from building APR-specific logic on an unverified ROS2 base. Likely question: 'What's the biggest schedule risk in this roadmap?' Strong answer: 'Phase 12, the safety supervisor — it requires all 8 fault scenarios to be bench-tested before hardware-in-the-loop, and fault injection testing tends to surface edge cases late; we've budgeted it as its own phase rather than folding it into Phase 13 for exactly that reason.'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this is the full test progression, seven stages from a single unit test up to a complete supervised mission — no stage is skipped, each gates the next. Bottom: eight KPIs, each with a hard numeric target — walk two or three you expect to be challenged on (path accuracy, E-stop, coverage) rather than reading all eight verbatim. Technical point: every KPI here is measured from a logged, timestamped ROS 2 topic via rosbag2 — never from operator estimation, which makes results reproducible and auditable. Likely question: 'What's your test procedure for the 0.5-second E-stop target specifically?' Strong answer: 'A timed hardware test — trigger E-stop, log the timestamp of the trigger and the timestamp of the last actuator command, and confirm the delta is under 0.5s across repeated trials, not just once.'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closing slide is the whole pipeline compressed to eight boxes — use it to remind the panel of the full end-to-end flow in under thirty seconds before opening for questions. Spend the remaining time on the four guarantee bullets — these are the four claims most likely to be re-tested by follow-up questions, so make sure each one was already demonstrated earlier in the deck, not asserted for the first time here. Technical point: this slide intentionally doesn't introduce anything new — a design review closing slide should summarize, not add scope. Likely question: 'If you had to cut one thing from this design to hit the timeline, what would it be first?' Strong answer: 'Predictive AI navigation and segment-order optimization — both are explicitly marked optional/advisory in this design, so they're the first things to defer without touching the safety-critical core.'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R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PAINTING ROVER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Navigation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Painting-Control Software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Subsystem — Design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532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University</a:t>
            </a:r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Ref: INC25ETS084848   |   Concept Phase — WBS 1.1 / 1.2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Software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painting of large / vertical / hazardous structures is 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inconsistent, and risky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workers at height or near toxic fumes.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safety exposure at height &amp; to fumes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coat thickness and coverage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trail for QA / compliance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throughput on large façades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OBJECTIVES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19456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CAD wall drawing into an executable coverage plan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autonomously with ±20 mm path accuracy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200–300 mm standoff and gate spray in real time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obstacles and replan without human input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 safety supervisor that outranks every other module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live telemetry and produce an auditable KPI log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7406640" cy="448056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1737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±20 mm / 1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Dev.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 m²/hr, ≥90% uniform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WBS 1.2 §3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200–300 mm, ±20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Dev.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Paint thickness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µm ± 15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ARP-Req. §3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E-stop reaction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WBS 1.2 §5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 hr continuous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WBS 1.2 §4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Overspray waste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WBS 1.2 §3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554480"/>
            <a:ext cx="7406640" cy="5486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554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66160" y="1554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1554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3816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4F7FA"/>
          </a:solidFill>
          <a:ln/>
        </p:spPr>
      </p:sp>
      <p:sp>
        <p:nvSpPr>
          <p:cNvPr id="12" name="Text 9"/>
          <p:cNvSpPr/>
          <p:nvPr/>
        </p:nvSpPr>
        <p:spPr>
          <a:xfrm>
            <a:off x="836676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REQUIREMENTS TOTAL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66760" y="21488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this slide is traced directly to WBS 1.1 Success Criteria or WBS 1.2 Requirements Definition — none is invented for this presentation.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366760" y="356616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still TBD: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Fall-detection threshold (kPa/N)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Vacuum pump vs. 15 kg payload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Steering: skid-steer vs. articulated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Software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9284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1037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DXF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10624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9" name="Shape 7"/>
          <p:cNvSpPr/>
          <p:nvPr/>
        </p:nvSpPr>
        <p:spPr>
          <a:xfrm>
            <a:off x="1787652" y="1600200"/>
            <a:ext cx="1129284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33372" y="1600200"/>
            <a:ext cx="1037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Map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41076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2" name="Shape 10"/>
          <p:cNvSpPr/>
          <p:nvPr/>
        </p:nvSpPr>
        <p:spPr>
          <a:xfrm>
            <a:off x="3118104" y="1600200"/>
            <a:ext cx="1129284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600200"/>
            <a:ext cx="1037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71528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8556" y="1600200"/>
            <a:ext cx="1129284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4276" y="1600200"/>
            <a:ext cx="1037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1129284" cy="868680"/>
          </a:xfrm>
          <a:prstGeom prst="roundRect">
            <a:avLst>
              <a:gd name="adj" fmla="val 6316"/>
            </a:avLst>
          </a:prstGeom>
          <a:solidFill>
            <a:srgbClr val="E9F1F7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88920"/>
            <a:ext cx="1037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(EKF)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610624" y="31501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20" name="Shape 18"/>
          <p:cNvSpPr/>
          <p:nvPr/>
        </p:nvSpPr>
        <p:spPr>
          <a:xfrm>
            <a:off x="1787652" y="2788920"/>
            <a:ext cx="1129284" cy="868680"/>
          </a:xfrm>
          <a:prstGeom prst="roundRect">
            <a:avLst>
              <a:gd name="adj" fmla="val 6316"/>
            </a:avLst>
          </a:prstGeom>
          <a:solidFill>
            <a:srgbClr val="E9F1F7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3372" y="2788920"/>
            <a:ext cx="1037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41076" y="31501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23" name="Shape 21"/>
          <p:cNvSpPr/>
          <p:nvPr/>
        </p:nvSpPr>
        <p:spPr>
          <a:xfrm>
            <a:off x="3118104" y="2788920"/>
            <a:ext cx="1129284" cy="868680"/>
          </a:xfrm>
          <a:prstGeom prst="roundRect">
            <a:avLst>
              <a:gd name="adj" fmla="val 6316"/>
            </a:avLst>
          </a:prstGeom>
          <a:solidFill>
            <a:srgbClr val="E9F1F7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3824" y="2788920"/>
            <a:ext cx="1037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71528" y="31501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26" name="Shape 24"/>
          <p:cNvSpPr/>
          <p:nvPr/>
        </p:nvSpPr>
        <p:spPr>
          <a:xfrm>
            <a:off x="4448556" y="2788920"/>
            <a:ext cx="1129284" cy="868680"/>
          </a:xfrm>
          <a:prstGeom prst="roundRect">
            <a:avLst>
              <a:gd name="adj" fmla="val 6316"/>
            </a:avLst>
          </a:prstGeom>
          <a:solidFill>
            <a:srgbClr val="E9F1F7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4276" y="2788920"/>
            <a:ext cx="10378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97764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Standoff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54108" y="433882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31" name="Shape 29"/>
          <p:cNvSpPr/>
          <p:nvPr/>
        </p:nvSpPr>
        <p:spPr>
          <a:xfrm>
            <a:off x="2231136" y="397764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76856" y="397764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28044" y="433882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34" name="Shape 32"/>
          <p:cNvSpPr/>
          <p:nvPr/>
        </p:nvSpPr>
        <p:spPr>
          <a:xfrm>
            <a:off x="4005072" y="397764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0792" y="397764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0" y="1600200"/>
            <a:ext cx="5806440" cy="3246120"/>
          </a:xfrm>
          <a:prstGeom prst="roundRect">
            <a:avLst>
              <a:gd name="adj" fmla="val 2817"/>
            </a:avLst>
          </a:prstGeom>
          <a:solidFill>
            <a:srgbClr val="0B2545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1783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17920" y="224028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above every module in this diagram — not just another node in the chain. Can force a hard stop on Navigation, Motion, and Spray regardless of what they are requesting.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365760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it monitors: E-stop • vacuum pressure • tilt • slip • battery • comms • sensor health • navigation health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074920"/>
            <a:ext cx="1129284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507492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 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Path Planning ≠ Navigation. Coverage decides </a:t>
            </a:r>
            <a:pPr indent="0" marL="0">
              <a:buNone/>
            </a:pPr>
            <a:r>
              <a:rPr lang="en-US" sz="1300" i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paint and in what order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Navigation decides </a:t>
            </a:r>
            <a:pPr indent="0" marL="0">
              <a:buNone/>
            </a:pPr>
            <a:r>
              <a:rPr lang="en-US" sz="1300" i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safely move along that plan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AutoCAD never drives the rover directly — it only produces geometry.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CAD/DXF → Digital Wall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1615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DWG/DXF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88220" y="209854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9" name="Shape 7"/>
          <p:cNvSpPr/>
          <p:nvPr/>
        </p:nvSpPr>
        <p:spPr>
          <a:xfrm>
            <a:off x="2365248" y="169164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0968" y="1691640"/>
            <a:ext cx="1615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96268" y="209854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3296" y="169164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9016" y="1691640"/>
            <a:ext cx="1615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04316" y="209854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1344" y="169164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691640"/>
            <a:ext cx="1615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12364" y="209854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8" name="Shape 16"/>
          <p:cNvSpPr/>
          <p:nvPr/>
        </p:nvSpPr>
        <p:spPr>
          <a:xfrm>
            <a:off x="8089392" y="169164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5112" y="1691640"/>
            <a:ext cx="1615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20412" y="209854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21" name="Shape 19"/>
          <p:cNvSpPr/>
          <p:nvPr/>
        </p:nvSpPr>
        <p:spPr>
          <a:xfrm>
            <a:off x="9997440" y="1691640"/>
            <a:ext cx="170688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3160" y="1691640"/>
            <a:ext cx="1615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Map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5440680" cy="2971800"/>
          </a:xfrm>
          <a:prstGeom prst="roundRect">
            <a:avLst>
              <a:gd name="adj" fmla="val 2462"/>
            </a:avLst>
          </a:prstGeom>
          <a:solidFill>
            <a:srgbClr val="F4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246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EXTRACTED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wall boundary polygon (mm→m)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No-paint regions: windows, doors, fixtures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height / width / reference origin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surface-type tag per CAD layer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063240"/>
            <a:ext cx="5440680" cy="2971800"/>
          </a:xfrm>
          <a:prstGeom prst="roundRect">
            <a:avLst>
              <a:gd name="adj" fmla="val 2462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246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CAD &amp; SENSORS DISAGREE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65760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observation always wins for obstacle avoidance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flagged as unverified_region in the map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sub-area is queued for operator confirmation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Planning + Coverage Path Planning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 job into ordered wall segments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 coverage path per segment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state: pending → in_progress → painted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mission state machine, subordinate to Safety Supervisor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4160520"/>
            <a:ext cx="5029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effective_spacing = spray_width × (1 − overlap)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0.30 m width, 50% overlap → 0.15 m between passes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1663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Boustrophedon (zig-zag) is the baseline pattern — alternating passes, transition waypoints between rows, no-paint regions clipped out.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ZIG-ZAG COVERAGE (top view)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2331720"/>
            <a:ext cx="4572000" cy="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2331720"/>
            <a:ext cx="0" cy="82296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3154680"/>
            <a:ext cx="4572000" cy="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3154680"/>
            <a:ext cx="0" cy="82296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3977640"/>
            <a:ext cx="4572000" cy="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338560" y="3977640"/>
            <a:ext cx="0" cy="82296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4800600"/>
            <a:ext cx="4572000" cy="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4800600"/>
            <a:ext cx="0" cy="82296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5623560"/>
            <a:ext cx="4572000" cy="0"/>
          </a:xfrm>
          <a:prstGeom prst="line">
            <a:avLst/>
          </a:prstGeom>
          <a:noFill/>
          <a:ln w="31750">
            <a:solidFill>
              <a:srgbClr val="5FA8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154680"/>
            <a:ext cx="1005840" cy="914400"/>
          </a:xfrm>
          <a:prstGeom prst="rect">
            <a:avLst/>
          </a:prstGeom>
          <a:solidFill>
            <a:srgbClr val="E9762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31546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no-paint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5715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Waypoints tagged spray_active = true/false; transitions between rows are non-spray moves.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ESTIMATION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+ Sensor Fusion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67335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High-rate relative odometry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Slips on wet/painted surface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15768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27889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Orientation, angular rate, tilt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3218688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Drifts without correction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31336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9044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scan-match correction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920240" y="4334256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Weak on featureless flat walls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946904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46904"/>
            <a:ext cx="1280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5020056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context (optional)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920240" y="5449824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Lighting-dependent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FUSION (robot_localization)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228600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2860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(~50 Hz)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58200" y="2468880"/>
            <a:ext cx="320040" cy="411480"/>
          </a:xfrm>
          <a:prstGeom prst="plus">
            <a:avLst/>
          </a:prstGeom>
          <a:solidFill>
            <a:srgbClr val="E9762B"/>
          </a:solidFill>
          <a:ln/>
        </p:spPr>
      </p:sp>
      <p:sp>
        <p:nvSpPr>
          <p:cNvPr id="27" name="Shape 25"/>
          <p:cNvSpPr/>
          <p:nvPr/>
        </p:nvSpPr>
        <p:spPr>
          <a:xfrm>
            <a:off x="8915400" y="2286000"/>
            <a:ext cx="2148840" cy="777240"/>
          </a:xfrm>
          <a:prstGeom prst="roundRect">
            <a:avLst>
              <a:gd name="adj" fmla="val 7059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0" y="228600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scan-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(~5-10 Hz)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778240" y="3154680"/>
            <a:ext cx="274320" cy="320040"/>
          </a:xfrm>
          <a:prstGeom prst="downArrow">
            <a:avLst/>
          </a:prstGeom>
          <a:solidFill>
            <a:srgbClr val="5FA8D3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0880" y="3566160"/>
            <a:ext cx="4023360" cy="640080"/>
          </a:xfrm>
          <a:prstGeom prst="roundRect">
            <a:avLst>
              <a:gd name="adj" fmla="val 7143"/>
            </a:avLst>
          </a:prstGeom>
          <a:solidFill>
            <a:srgbClr val="E9762B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35661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/odometry/filtered — bounded-drift pose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44348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budget: ≤ 10 mm over 10 minutes (SW-08), enforced by periodic LiDAR correction on top of continuous encoder+IMU odometry.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5257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TF2 chain: map → odom → base_link → {lidar, imu, camera, standoff sensor}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Navigation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this:  </a:t>
            </a:r>
            <a:pPr indent="0" marL="0">
              <a:buNone/>
            </a:pPr>
            <a:r>
              <a:rPr lang="en-US" sz="1300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→ Neural Network → Motors</a:t>
            </a:r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unverifiable for a safety-critical wall-climbing robot.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(deterministic)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everything safety- and motion-critical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474720"/>
            <a:ext cx="4937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+ Localization (EKF)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Costmaps (static + dynamic)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planning, path planning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control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state machine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560320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F4F7FA"/>
          </a:solidFill>
          <a:ln w="9525">
            <a:solidFill>
              <a:srgbClr val="D7DE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743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(perception only)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input to costmap — never wired to actuation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474720"/>
            <a:ext cx="4937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Obstacle/object classification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understanding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predictive navigation (future)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segment-order optimization (advisory)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 + Dynamic Replanning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70688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161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88220" y="21214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9" name="Shape 7"/>
          <p:cNvSpPr/>
          <p:nvPr/>
        </p:nvSpPr>
        <p:spPr>
          <a:xfrm>
            <a:off x="2365248" y="1691640"/>
            <a:ext cx="170688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0968" y="1691640"/>
            <a:ext cx="161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96268" y="21214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3296" y="1691640"/>
            <a:ext cx="170688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9016" y="1691640"/>
            <a:ext cx="161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04316" y="21214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5" name="Shape 13"/>
          <p:cNvSpPr/>
          <p:nvPr/>
        </p:nvSpPr>
        <p:spPr>
          <a:xfrm>
            <a:off x="6181344" y="1691640"/>
            <a:ext cx="170688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691640"/>
            <a:ext cx="161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safety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12364" y="21214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8" name="Shape 16"/>
          <p:cNvSpPr/>
          <p:nvPr/>
        </p:nvSpPr>
        <p:spPr>
          <a:xfrm>
            <a:off x="8089392" y="1691640"/>
            <a:ext cx="170688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5112" y="1691640"/>
            <a:ext cx="161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20412" y="21214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21" name="Shape 19"/>
          <p:cNvSpPr/>
          <p:nvPr/>
        </p:nvSpPr>
        <p:spPr>
          <a:xfrm>
            <a:off x="9997440" y="1691640"/>
            <a:ext cx="1706880" cy="100584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3160" y="1691640"/>
            <a:ext cx="1615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when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3291840"/>
            <a:ext cx="201168" cy="20116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3246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CAD obstacles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at planning time — never a runtime surprise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19272" y="310896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3502152" y="3291840"/>
            <a:ext cx="201168" cy="20116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9" name="Text 27"/>
          <p:cNvSpPr/>
          <p:nvPr/>
        </p:nvSpPr>
        <p:spPr>
          <a:xfrm>
            <a:off x="3822192" y="3246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obstacles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02152" y="39319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Costmap update, small local deviation, resumes automatically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81344" y="310896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364224" y="3291840"/>
            <a:ext cx="201168" cy="201168"/>
          </a:xfrm>
          <a:prstGeom prst="ellipse">
            <a:avLst/>
          </a:prstGeom>
          <a:solidFill>
            <a:srgbClr val="E9762B"/>
          </a:solidFill>
          <a:ln/>
        </p:spPr>
      </p:sp>
      <p:sp>
        <p:nvSpPr>
          <p:cNvPr id="33" name="Text 31"/>
          <p:cNvSpPr/>
          <p:nvPr/>
        </p:nvSpPr>
        <p:spPr>
          <a:xfrm>
            <a:off x="6684264" y="3246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obstacles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64224" y="39319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stop until cleared or operator confirms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43416" y="310896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F4F7FA"/>
          </a:solidFill>
          <a:ln/>
        </p:spPr>
      </p:sp>
      <p:sp>
        <p:nvSpPr>
          <p:cNvPr id="36" name="Shape 34"/>
          <p:cNvSpPr/>
          <p:nvPr/>
        </p:nvSpPr>
        <p:spPr>
          <a:xfrm>
            <a:off x="9226296" y="3291840"/>
            <a:ext cx="201168" cy="201168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37" name="Text 35"/>
          <p:cNvSpPr/>
          <p:nvPr/>
        </p:nvSpPr>
        <p:spPr>
          <a:xfrm>
            <a:off x="9546336" y="32461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conditions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26296" y="39319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directly to Safety Supervisor, bypasses replanning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Standoff + Spray Control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STANDOFF CONTROL LOOP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1083564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94560"/>
            <a:ext cx="9921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93504" y="25786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1" name="Shape 9"/>
          <p:cNvSpPr/>
          <p:nvPr/>
        </p:nvSpPr>
        <p:spPr>
          <a:xfrm>
            <a:off x="1970532" y="2194560"/>
            <a:ext cx="1083564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6252" y="2194560"/>
            <a:ext cx="9921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target-actual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78236" y="25786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4" name="Shape 12"/>
          <p:cNvSpPr/>
          <p:nvPr/>
        </p:nvSpPr>
        <p:spPr>
          <a:xfrm>
            <a:off x="3255264" y="2194560"/>
            <a:ext cx="1083564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00984" y="2194560"/>
            <a:ext cx="9921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(20-50Hz)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62968" y="257860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7" name="Shape 15"/>
          <p:cNvSpPr/>
          <p:nvPr/>
        </p:nvSpPr>
        <p:spPr>
          <a:xfrm>
            <a:off x="4539996" y="2194560"/>
            <a:ext cx="1083564" cy="9144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5716" y="2194560"/>
            <a:ext cx="9921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337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200–300 mm   |   Tolerance: ±20 mm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8404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Standoff error is a direct gate on spray, not just a logged quality metric: too close → thick coat / runs; too far → thin coat / overspray.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1554480"/>
            <a:ext cx="5440680" cy="4572000"/>
          </a:xfrm>
          <a:prstGeom prst="roundRect">
            <a:avLst>
              <a:gd name="adj" fmla="val 1600"/>
            </a:avLst>
          </a:prstGeom>
          <a:solidFill>
            <a:srgbClr val="0B25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GATING LOGIC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14884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 trajectory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speed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 standoff (≤20mm)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 adhesion (vacuum nominal)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Safety state = RUNNING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fault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206240"/>
            <a:ext cx="4937760" cy="594360"/>
          </a:xfrm>
          <a:prstGeom prst="roundRect">
            <a:avLst>
              <a:gd name="adj" fmla="val 7692"/>
            </a:avLst>
          </a:prstGeom>
          <a:solidFill>
            <a:srgbClr val="3A7D44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206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TRUE  →  SPRAY 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4937760"/>
            <a:ext cx="4937760" cy="594360"/>
          </a:xfrm>
          <a:prstGeom prst="roundRect">
            <a:avLst>
              <a:gd name="adj" fmla="val 7692"/>
            </a:avLst>
          </a:prstGeom>
          <a:solidFill>
            <a:srgbClr val="B3261E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9377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FALSE  →  SPRAY OFF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Fail-Safe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434302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13428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15642" y="20299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9" name="Shape 7"/>
          <p:cNvSpPr/>
          <p:nvPr/>
        </p:nvSpPr>
        <p:spPr>
          <a:xfrm>
            <a:off x="2092670" y="1691640"/>
            <a:ext cx="1434302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8390" y="1691640"/>
            <a:ext cx="13428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51112" y="20299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728139" y="1691640"/>
            <a:ext cx="1434302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3859" y="1691640"/>
            <a:ext cx="13428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86581" y="20299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363609" y="1691640"/>
            <a:ext cx="1434302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9329" y="1691640"/>
            <a:ext cx="13428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22051" y="20299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9079" y="1691640"/>
            <a:ext cx="1434302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4799" y="1691640"/>
            <a:ext cx="13428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57521" y="20299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21" name="Shape 19"/>
          <p:cNvSpPr/>
          <p:nvPr/>
        </p:nvSpPr>
        <p:spPr>
          <a:xfrm>
            <a:off x="8634549" y="1691640"/>
            <a:ext cx="1434302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0269" y="1691640"/>
            <a:ext cx="13428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92990" y="20299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70018" y="1691640"/>
            <a:ext cx="1434302" cy="82296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15738" y="1691640"/>
            <a:ext cx="134286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OUTRANKS EVERYTHING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3429000"/>
            <a:ext cx="4937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priority than navigation, AI, motion, spraying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force FAULT / E-STOP from any state, any time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operator acknowledgment clears a FAULT — never automatic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 target: hard-cut actuation within ≤ 0.5 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283464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4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017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MONITORED FAULT INPUTS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92240" y="342900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B49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E-stop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06840" y="342900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B496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06840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pressure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406908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B496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4069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06840" y="406908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B496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06840" y="40690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470916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B496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4709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Battery/power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06840" y="470916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B496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06840" y="47091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92240" y="534924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B496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5349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health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006840" y="5349240"/>
            <a:ext cx="2331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1B49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06840" y="53492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health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+ Simulation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6035040" cy="4572000"/>
          </a:xfrm>
          <a:prstGeom prst="roundRect">
            <a:avLst>
              <a:gd name="adj" fmla="val 1600"/>
            </a:avLst>
          </a:prstGeom>
          <a:solidFill>
            <a:srgbClr val="F4F7F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ROS 2 PACKAGES (apr_ws)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5577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apr_description, apr_bringup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apr_hardware, apr_sensors  (C++)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apr_localization, apr_mapping  (C++)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apr_cad_processor, apr_mission_planner  (Py)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apr_coverage_planner, apr_navigation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apr_obstacle_detection  (Py, OpenCV/PyTorch)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apr_safety, apr_motion_controller  (C++)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apr_spray_controller  (C++)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–"/>
            </a:pPr>
            <a:r>
              <a:rPr lang="en-US" sz="115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apr_telemetry  (Py)   |   apr_interfaces (IDL)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20840" y="1554480"/>
            <a:ext cx="4983480" cy="4892040"/>
          </a:xfrm>
          <a:prstGeom prst="roundRect">
            <a:avLst>
              <a:gd name="adj" fmla="val 1495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737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SIMULATION-FIRST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49440" y="2194560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1B4965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194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98280" y="2697480"/>
            <a:ext cx="182880" cy="128016"/>
          </a:xfrm>
          <a:prstGeom prst="downArrow">
            <a:avLst/>
          </a:prstGeom>
          <a:solidFill>
            <a:srgbClr val="E976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0" y="2816352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1B4965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81635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3319272"/>
            <a:ext cx="182880" cy="128016"/>
          </a:xfrm>
          <a:prstGeom prst="downArrow">
            <a:avLst/>
          </a:prstGeom>
          <a:solidFill>
            <a:srgbClr val="E9762B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3438144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1B4965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34381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Harmonic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98280" y="3941064"/>
            <a:ext cx="182880" cy="128016"/>
          </a:xfrm>
          <a:prstGeom prst="downArrow">
            <a:avLst/>
          </a:prstGeom>
          <a:solidFill>
            <a:srgbClr val="E976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0" y="4059936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1B4965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405993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URDF + virtual wall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98280" y="4562856"/>
            <a:ext cx="182880" cy="128016"/>
          </a:xfrm>
          <a:prstGeom prst="downArrow">
            <a:avLst/>
          </a:prstGeom>
          <a:solidFill>
            <a:srgbClr val="E9762B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4681728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1B4965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468172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→ Nav2 → Coverage Planner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98280" y="5184648"/>
            <a:ext cx="182880" cy="128016"/>
          </a:xfrm>
          <a:prstGeom prst="downArrow">
            <a:avLst/>
          </a:prstGeom>
          <a:solidFill>
            <a:srgbClr val="E9762B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9440" y="5303520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1B4965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5303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simulated APR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49440" y="59893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nodes run against sim or real sensor data — only the driver layer (apr_hardware/apr_sensors) swaps.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65960" y="1554480"/>
            <a:ext cx="973836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55448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ROS2 basics, sim robot, sensors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3172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965960" y="2331720"/>
            <a:ext cx="973836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233172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SLAM, EKF, Nav2, vertical-wall simulation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0896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7-9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965960" y="3108960"/>
            <a:ext cx="973836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0" y="310896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processor, mission + coverage planner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8862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965960" y="3886200"/>
            <a:ext cx="973836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388620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detection, standoff/spray, safety supervisor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13-14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965960" y="4663440"/>
            <a:ext cx="973836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4663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Hardware-in-the-loop, controlled real-wall testing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5532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has a written objective, task list, required software, test procedure, completion criteria, common mistakes, and an explicit “do NOT attempt yet” boundary — full detail in the written report, Part 16.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— Autonomous AI Navigation &amp; Painting Control  |  Design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229868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11384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11208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9" name="Shape 7"/>
          <p:cNvSpPr/>
          <p:nvPr/>
        </p:nvSpPr>
        <p:spPr>
          <a:xfrm>
            <a:off x="1888236" y="1645920"/>
            <a:ext cx="1229868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3956" y="1645920"/>
            <a:ext cx="11384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42244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9272" y="1645920"/>
            <a:ext cx="1229868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645920"/>
            <a:ext cx="11384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3280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0308" y="1645920"/>
            <a:ext cx="1229868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6028" y="1645920"/>
            <a:ext cx="11384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04316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8" name="Shape 16"/>
          <p:cNvSpPr/>
          <p:nvPr/>
        </p:nvSpPr>
        <p:spPr>
          <a:xfrm>
            <a:off x="6181344" y="1645920"/>
            <a:ext cx="1229868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645920"/>
            <a:ext cx="11384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35352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21" name="Shape 19"/>
          <p:cNvSpPr/>
          <p:nvPr/>
        </p:nvSpPr>
        <p:spPr>
          <a:xfrm>
            <a:off x="7612380" y="1645920"/>
            <a:ext cx="1229868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8100" y="1645920"/>
            <a:ext cx="11384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Low-wall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866388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24" name="Shape 22"/>
          <p:cNvSpPr/>
          <p:nvPr/>
        </p:nvSpPr>
        <p:spPr>
          <a:xfrm>
            <a:off x="9043416" y="1645920"/>
            <a:ext cx="1229868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89136" y="1645920"/>
            <a:ext cx="11384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297424" y="1961388"/>
            <a:ext cx="152888" cy="146304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74452" y="1645920"/>
            <a:ext cx="1229868" cy="777240"/>
          </a:xfrm>
          <a:prstGeom prst="roundRect">
            <a:avLst>
              <a:gd name="adj" fmla="val 7059"/>
            </a:avLst>
          </a:prstGeom>
          <a:solidFill>
            <a:srgbClr val="F4F7FA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20172" y="1645920"/>
            <a:ext cx="11384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697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accuracy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 mm / 1 m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273552" y="2697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B4965"/>
          </a:solidFill>
          <a:ln/>
        </p:spPr>
      </p:sp>
      <p:sp>
        <p:nvSpPr>
          <p:cNvPr id="33" name="Text 31"/>
          <p:cNvSpPr/>
          <p:nvPr/>
        </p:nvSpPr>
        <p:spPr>
          <a:xfrm>
            <a:off x="3410712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Standoff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1071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200-300 mm, ±20 mm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089904" y="2697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/>
        </p:spPr>
      </p:sp>
      <p:sp>
        <p:nvSpPr>
          <p:cNvPr id="36" name="Text 34"/>
          <p:cNvSpPr/>
          <p:nvPr/>
        </p:nvSpPr>
        <p:spPr>
          <a:xfrm>
            <a:off x="6227064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27064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≥90%, ≥10 m²/hr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906256" y="26974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B4965"/>
          </a:solidFill>
          <a:ln/>
        </p:spPr>
      </p:sp>
      <p:sp>
        <p:nvSpPr>
          <p:cNvPr id="39" name="Text 37"/>
          <p:cNvSpPr/>
          <p:nvPr/>
        </p:nvSpPr>
        <p:spPr>
          <a:xfrm>
            <a:off x="9043416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43416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≤10 mm / 10 min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572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94360" y="5029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≥30 min continuous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273552" y="44348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B4965"/>
          </a:solidFill>
          <a:ln/>
        </p:spPr>
      </p:sp>
      <p:sp>
        <p:nvSpPr>
          <p:cNvPr id="45" name="Text 43"/>
          <p:cNvSpPr/>
          <p:nvPr/>
        </p:nvSpPr>
        <p:spPr>
          <a:xfrm>
            <a:off x="3410712" y="4572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10712" y="5029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≤700 W peak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089904" y="44348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/>
        </p:spPr>
      </p:sp>
      <p:sp>
        <p:nvSpPr>
          <p:cNvPr id="48" name="Text 46"/>
          <p:cNvSpPr/>
          <p:nvPr/>
        </p:nvSpPr>
        <p:spPr>
          <a:xfrm>
            <a:off x="6227064" y="4572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(E-stop)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27064" y="5029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≤0.5 s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8906256" y="44348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B4965"/>
          </a:solidFill>
          <a:ln/>
        </p:spPr>
      </p:sp>
      <p:sp>
        <p:nvSpPr>
          <p:cNvPr id="51" name="Text 49"/>
          <p:cNvSpPr/>
          <p:nvPr/>
        </p:nvSpPr>
        <p:spPr>
          <a:xfrm>
            <a:off x="9043416" y="4572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Overspray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043416" y="5029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≤10%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INTEGRATED APR SOFTWARE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Map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87964" y="18013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7" name="Shape 5"/>
          <p:cNvSpPr/>
          <p:nvPr/>
        </p:nvSpPr>
        <p:spPr>
          <a:xfrm>
            <a:off x="3364992" y="141732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4173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04316" y="18013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10" name="Shape 8"/>
          <p:cNvSpPr/>
          <p:nvPr/>
        </p:nvSpPr>
        <p:spPr>
          <a:xfrm>
            <a:off x="6181344" y="141732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14173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20668" y="18013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13" name="Shape 11"/>
          <p:cNvSpPr/>
          <p:nvPr/>
        </p:nvSpPr>
        <p:spPr>
          <a:xfrm>
            <a:off x="8997696" y="141732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43416" y="14173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Standoff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603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Handling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(classical + AI)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7964" y="29443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18" name="Shape 16"/>
          <p:cNvSpPr/>
          <p:nvPr/>
        </p:nvSpPr>
        <p:spPr>
          <a:xfrm>
            <a:off x="3364992" y="256032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5603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(highest priority)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04316" y="29443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21" name="Shape 19"/>
          <p:cNvSpPr/>
          <p:nvPr/>
        </p:nvSpPr>
        <p:spPr>
          <a:xfrm>
            <a:off x="6181344" y="256032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7064" y="25603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0668" y="2944368"/>
            <a:ext cx="152888" cy="146304"/>
          </a:xfrm>
          <a:prstGeom prst="rightArrow">
            <a:avLst/>
          </a:prstGeom>
          <a:solidFill>
            <a:srgbClr val="E9762B"/>
          </a:solidFill>
          <a:ln/>
        </p:spPr>
      </p:sp>
      <p:sp>
        <p:nvSpPr>
          <p:cNvPr id="24" name="Shape 22"/>
          <p:cNvSpPr/>
          <p:nvPr/>
        </p:nvSpPr>
        <p:spPr>
          <a:xfrm>
            <a:off x="8997696" y="256032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1B4965"/>
          </a:solidFill>
          <a:ln w="15875">
            <a:solidFill>
              <a:srgbClr val="1B49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43416" y="256032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Log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13324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977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DESIGN GUARANTEES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38912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issues a motor, spray, or vacuum command directly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numeric target traces to WBS 1.1 / 1.2 and is independently testable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Supervisor can halt any module from any state, at any time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ROS 2 nodes run in simulation and on hardware — no logic rewritten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2026-08-21T09:41:10Z</dcterms:created>
  <dcterms:modified xsi:type="dcterms:W3CDTF">2026-08-21T09:41:10Z</dcterms:modified>
</cp:coreProperties>
</file>